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eea4ee3d-b3c4-0a48-ef95-27951c87acbe}">
          <p14:sldIdLst>
            <p14:sldId id="256"/>
            <p14:sldId id="257"/>
          </p14:sldIdLst>
        </p14:section>
        <p14:section name="Access profile" id="{24b32284-7a43-c61a-4349-784704a4a267}">
          <p14:sldIdLst>
            <p14:sldId id="258"/>
          </p14:sldIdLst>
        </p14:section>
        <p14:section name="Tunnelled catheters" id="{7d4349d1-c766-7f51-aaf1-9b4a84f3ede8}">
          <p14:sldIdLst>
            <p14:sldId id="259"/>
            <p14:sldId id="260"/>
          </p14:sldIdLst>
        </p14:section>
        <p14:section name="Arteriovenous fistulas" id="{833046c5-9982-ec80-ac27-8a06fa9417f1}">
          <p14:sldIdLst>
            <p14:sldId id="261"/>
            <p14:sldId id="262"/>
            <p14:sldId id="263"/>
          </p14:sldIdLst>
        </p14:section>
        <p14:section name="Access transitions" id="{8a13939f-91e8-fb9d-6b3f-7352fb59fb85}">
          <p14:sldIdLst>
            <p14:sldId id="264"/>
          </p14:sldIdLst>
        </p14:section>
        <p14:section name="Conclusions" id="{d05484de-e191-8d45-18b3-5baeeeabd7c9}">
          <p14:sldIdLst>
            <p14:sldId id="265"/>
            <p14:sldId id="266"/>
          </p14:sldIdLst>
        </p14:section>
        <p14:section name="Appendix" id="{74c148de-2083-24af-eddf-8591b8a3849b}">
          <p14:sldIdLst>
            <p14:sldId id="267"/>
            <p14:sldId id="268"/>
            <p14:sldId id="269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7313B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7313B"/>
                </a:solidFill>
                <a:latin typeface="+mn-lt"/>
              </a:rPr>
              <a:t>Access type, all 125 register entries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Access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6E73"/>
              </a:solidFill>
              <a:effectLst/>
            </c:spPr>
          </c:dPt>
          <c:dPt>
            <c:idx val="1"/>
            <c:bubble3D val="0"/>
            <c:spPr>
              <a:solidFill>
                <a:srgbClr val="D9534F"/>
              </a:solidFill>
              <a:effectLst/>
            </c:spPr>
          </c:dPt>
          <c:dPt>
            <c:idx val="2"/>
            <c:bubble3D val="0"/>
            <c:spPr>
              <a:solidFill>
                <a:srgbClr val="E59F3C"/>
              </a:solidFill>
              <a:effectLst/>
            </c:spPr>
          </c:dPt>
          <c:dPt>
            <c:idx val="3"/>
            <c:bubble3D val="0"/>
            <c:spPr>
              <a:solidFill>
                <a:srgbClr val="C9D3D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AVF only</c:v>
                </c:pt>
                <c:pt idx="1">
                  <c:v>TCC only</c:v>
                </c:pt>
                <c:pt idx="2">
                  <c:v>TCC + AVF</c:v>
                </c:pt>
                <c:pt idx="3">
                  <c:v>No access data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68</c:v>
                </c:pt>
                <c:pt idx="1">
                  <c:v>23</c:v>
                </c:pt>
                <c:pt idx="2">
                  <c:v>13</c:v>
                </c:pt>
                <c:pt idx="3">
                  <c:v>21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7313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7313B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7313B"/>
                </a:solidFill>
                <a:latin typeface="+mn-lt"/>
              </a:rPr>
              <a:t>TCC duration in the last 6 months (n = 36)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0E6E7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731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≤ 1 month</c:v>
                  </c:pt>
                  <c:pt idx="1">
                    <c:v>2–5 months</c:v>
                  </c:pt>
                  <c:pt idx="2">
                    <c:v>6 months</c:v>
                  </c:pt>
                  <c:pt idx="3">
                    <c:v>Not written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4</c:v>
                </c:pt>
                <c:pt idx="2">
                  <c:v>23</c:v>
                </c:pt>
                <c:pt idx="3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731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D5DD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7313B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7313B"/>
                </a:solidFill>
                <a:latin typeface="+mn-lt"/>
              </a:rPr>
              <a:t>Reason for catheter change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D953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731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9534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59F3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CRBSI / infection</c:v>
                  </c:pt>
                  <c:pt idx="1">
                    <c:v>Poor flow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</c:v>
                </c:pt>
                <c:pt idx="1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731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D5DD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7313B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7313B"/>
                </a:solidFill>
                <a:latin typeface="+mn-lt"/>
              </a:rPr>
              <a:t>AVF status (n = 81)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0E6E7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731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6E7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59F3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534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Functioning</c:v>
                  </c:pt>
                  <c:pt idx="1">
                    <c:v>Not matured</c:v>
                  </c:pt>
                  <c:pt idx="2">
                    <c:v>Failed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77</c:v>
                </c:pt>
                <c:pt idx="1">
                  <c:v>2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731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D5DD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7313B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7313B"/>
                </a:solidFill>
                <a:latin typeface="+mn-lt"/>
              </a:rPr>
              <a:t>AVF duration in the last 6 months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0E6E7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731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≤ 3 months</c:v>
                  </c:pt>
                  <c:pt idx="1">
                    <c:v>4–6 months</c:v>
                  </c:pt>
                  <c:pt idx="2">
                    <c:v>&gt; 6 months</c:v>
                  </c:pt>
                  <c:pt idx="3">
                    <c:v>Not written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69</c:v>
                </c:pt>
                <c:pt idx="2">
                  <c:v>1</c:v>
                </c:pt>
                <c:pt idx="3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731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D5DD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7313B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7313B"/>
                </a:solidFill>
                <a:latin typeface="+mn-lt"/>
              </a:rPr>
              <a:t>AVF site (n = 81)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Site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6E73"/>
              </a:solidFill>
              <a:effectLst/>
            </c:spPr>
          </c:dPt>
          <c:dPt>
            <c:idx val="1"/>
            <c:bubble3D val="0"/>
            <c:spPr>
              <a:solidFill>
                <a:srgbClr val="7FB8B5"/>
              </a:solidFill>
              <a:effectLst/>
            </c:spPr>
          </c:dPt>
          <c:dPt>
            <c:idx val="2"/>
            <c:bubble3D val="0"/>
            <c:spPr>
              <a:solidFill>
                <a:srgbClr val="E59F3C"/>
              </a:solidFill>
              <a:effectLst/>
            </c:spPr>
          </c:dPt>
          <c:dPt>
            <c:idx val="3"/>
            <c:bubble3D val="0"/>
            <c:spPr>
              <a:solidFill>
                <a:srgbClr val="C9D3D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17313B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17313B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17313B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17313B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Proximal</c:v>
                </c:pt>
                <c:pt idx="1">
                  <c:v>Distal</c:v>
                </c:pt>
                <c:pt idx="2">
                  <c:v>Both</c:v>
                </c:pt>
                <c:pt idx="3">
                  <c:v>Not recorded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45</c:v>
                </c:pt>
                <c:pt idx="1">
                  <c:v>27</c:v>
                </c:pt>
                <c:pt idx="2">
                  <c:v>1</c:v>
                </c:pt>
                <c:pt idx="3">
                  <c:v>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7313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7313B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7313B"/>
                </a:solidFill>
                <a:latin typeface="+mn-lt"/>
              </a:rPr>
              <a:t>Change of access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0E6E7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731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6E7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534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TCC → AVF</c:v>
                  </c:pt>
                  <c:pt idx="1">
                    <c:v>AVF → TCC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</c:v>
                </c:pt>
                <c:pt idx="1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731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D5DD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73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BFD9DA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CKD vascular-access register · best-effort transcription of handwritten entries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Vascular access in CKD haemodialysis patients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FD9DA"/>
                </a:solidFill>
              </a:rPr>
              <a:t>TCC and AVF register analysis · 125 patients (Sr. No. 1–125)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FD9DA"/>
                </a:solidFill>
              </a:rPr>
              <a:t>TCC use, CRBSI, catheter change, AVF duration and site, procedures, access transitions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3" name="AVF card"/>
          <p:cNvSpPr/>
          <p:nvPr/>
        </p:nvSpPr>
        <p:spPr>
          <a:xfrm>
            <a:off x="457200" y="1097280"/>
            <a:ext cx="19202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VF value"/>
          <p:cNvSpPr txBox="1"/>
          <p:nvPr/>
        </p:nvSpPr>
        <p:spPr>
          <a:xfrm>
            <a:off x="594360" y="1188720"/>
            <a:ext cx="164592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</a:t>
            </a:r>
            <a:endParaRPr lang="en-US" sz="3200" dirty="0"/>
          </a:p>
        </p:txBody>
      </p:sp>
      <p:sp>
        <p:nvSpPr>
          <p:cNvPr id="5" name="AVF label"/>
          <p:cNvSpPr txBox="1"/>
          <p:nvPr/>
        </p:nvSpPr>
        <p:spPr>
          <a:xfrm>
            <a:off x="594360" y="1813255"/>
            <a:ext cx="164592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patients have an AVF (78% of 104 with data)</a:t>
            </a:r>
            <a:endParaRPr lang="en-US" sz="1100" dirty="0"/>
          </a:p>
        </p:txBody>
      </p:sp>
      <p:sp>
        <p:nvSpPr>
          <p:cNvPr id="6" name="TCC card"/>
          <p:cNvSpPr/>
          <p:nvPr/>
        </p:nvSpPr>
        <p:spPr>
          <a:xfrm>
            <a:off x="2560320" y="1097280"/>
            <a:ext cx="19202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CC value"/>
          <p:cNvSpPr txBox="1"/>
          <p:nvPr/>
        </p:nvSpPr>
        <p:spPr>
          <a:xfrm>
            <a:off x="2697480" y="1188720"/>
            <a:ext cx="164592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3200" dirty="0"/>
          </a:p>
        </p:txBody>
      </p:sp>
      <p:sp>
        <p:nvSpPr>
          <p:cNvPr id="8" name="TCC label"/>
          <p:cNvSpPr txBox="1"/>
          <p:nvPr/>
        </p:nvSpPr>
        <p:spPr>
          <a:xfrm>
            <a:off x="2697480" y="1813255"/>
            <a:ext cx="164592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patients had a TCC (35%)</a:t>
            </a:r>
            <a:endParaRPr lang="en-US" sz="1100" dirty="0"/>
          </a:p>
        </p:txBody>
      </p:sp>
      <p:sp>
        <p:nvSpPr>
          <p:cNvPr id="9" name="CRBSI card"/>
          <p:cNvSpPr/>
          <p:nvPr/>
        </p:nvSpPr>
        <p:spPr>
          <a:xfrm>
            <a:off x="4663440" y="1097280"/>
            <a:ext cx="19202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RBSI value"/>
          <p:cNvSpPr txBox="1"/>
          <p:nvPr/>
        </p:nvSpPr>
        <p:spPr>
          <a:xfrm>
            <a:off x="4800600" y="1188720"/>
            <a:ext cx="164592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36%</a:t>
            </a:r>
            <a:endParaRPr lang="en-US" sz="3200" dirty="0"/>
          </a:p>
        </p:txBody>
      </p:sp>
      <p:sp>
        <p:nvSpPr>
          <p:cNvPr id="11" name="CRBSI label"/>
          <p:cNvSpPr txBox="1"/>
          <p:nvPr/>
        </p:nvSpPr>
        <p:spPr>
          <a:xfrm>
            <a:off x="4800600" y="1813255"/>
            <a:ext cx="164592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of TCC patients had CRBSI (13 of 36)</a:t>
            </a:r>
            <a:endParaRPr lang="en-US" sz="1100" dirty="0"/>
          </a:p>
        </p:txBody>
      </p:sp>
      <p:sp>
        <p:nvSpPr>
          <p:cNvPr id="12" name="Transitions card"/>
          <p:cNvSpPr/>
          <p:nvPr/>
        </p:nvSpPr>
        <p:spPr>
          <a:xfrm>
            <a:off x="6766560" y="1097280"/>
            <a:ext cx="19202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ransitions value"/>
          <p:cNvSpPr txBox="1"/>
          <p:nvPr/>
        </p:nvSpPr>
        <p:spPr>
          <a:xfrm>
            <a:off x="6903720" y="1188720"/>
            <a:ext cx="164592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: 3</a:t>
            </a:r>
            <a:endParaRPr lang="en-US" sz="3200" dirty="0"/>
          </a:p>
        </p:txBody>
      </p:sp>
      <p:sp>
        <p:nvSpPr>
          <p:cNvPr id="14" name="Transitions label"/>
          <p:cNvSpPr txBox="1"/>
          <p:nvPr/>
        </p:nvSpPr>
        <p:spPr>
          <a:xfrm>
            <a:off x="6903720" y="1813255"/>
            <a:ext cx="164592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TCC→AVF vs AVF→TCC changes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606040"/>
            <a:ext cx="822960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AVF is the dominant access: 68 patients on AVF alone, 23 on TCC alone, 13 with both recorded.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11 catheters needed changing: 7 for infection/CRBSI, 4 for poor flow.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Proximal fistulas outnumber distal 45 to 27; 2 AVFs failed and 2 had not matured.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Conversion is moving the right way: 24 patients moved from TCC to AVF and 3 moved back to TCC.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patients dialyse through an AVF</a:t>
            </a:r>
            <a:endParaRPr lang="en-US" sz="2800" dirty="0"/>
          </a:p>
        </p:txBody>
      </p:sp>
      <p:graphicFrame>
        <p:nvGraphicFramePr>
          <p:cNvPr id="3" name="Access type doughnut" descr=""/>
          <p:cNvGraphicFramePr/>
          <p:nvPr/>
        </p:nvGraphicFramePr>
        <p:xfrm>
          <a:off x="365760" y="1005840"/>
          <a:ext cx="42062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846320" y="1188720"/>
            <a:ext cx="384048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104 of 125 rows have access details; 21 rows are blank (new or recently started patients, or not yet filled in).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AVF only: 68 (65%). TCC only: 23 (22%).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13 patients have both a TCC and an AVF recorded, mostly a catheter used while the fistula matured or after it failed.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Prevalent AVF use is 74% (77 working fistulas).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catheters stay in for the full 6 months</a:t>
            </a:r>
            <a:endParaRPr lang="en-US" sz="2800" dirty="0"/>
          </a:p>
        </p:txBody>
      </p:sp>
      <p:graphicFrame>
        <p:nvGraphicFramePr>
          <p:cNvPr id="3" name="TCC duration chart" descr=""/>
          <p:cNvGraphicFramePr/>
          <p:nvPr/>
        </p:nvGraphicFramePr>
        <p:xfrm>
          <a:off x="365760" y="1005840"/>
          <a:ext cx="49377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CC count card"/>
          <p:cNvSpPr/>
          <p:nvPr/>
        </p:nvSpPr>
        <p:spPr>
          <a:xfrm>
            <a:off x="5669280" y="1188720"/>
            <a:ext cx="30175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CC count value"/>
          <p:cNvSpPr txBox="1"/>
          <p:nvPr/>
        </p:nvSpPr>
        <p:spPr>
          <a:xfrm>
            <a:off x="5806440" y="1280160"/>
            <a:ext cx="274320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3200" dirty="0"/>
          </a:p>
        </p:txBody>
      </p:sp>
      <p:sp>
        <p:nvSpPr>
          <p:cNvPr id="6" name="TCC count label"/>
          <p:cNvSpPr txBox="1"/>
          <p:nvPr/>
        </p:nvSpPr>
        <p:spPr>
          <a:xfrm>
            <a:off x="5806440" y="1878178"/>
            <a:ext cx="274320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patients with a TCC (35% of those with data)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669280" y="2606040"/>
            <a:ext cx="301752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23 of 36 catheters (64%) were in use for the whole 6-month window.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23 patients rely on a TCC with no AVF recorded; they are the candidates for fistula creation.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 three catheter patients had a CRBSI</a:t>
            </a:r>
            <a:endParaRPr lang="en-US" sz="2800" dirty="0"/>
          </a:p>
        </p:txBody>
      </p:sp>
      <p:sp>
        <p:nvSpPr>
          <p:cNvPr id="3" name="CRBSI rate card"/>
          <p:cNvSpPr/>
          <p:nvPr/>
        </p:nvSpPr>
        <p:spPr>
          <a:xfrm>
            <a:off x="457200" y="1097280"/>
            <a:ext cx="23774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RBSI rate value"/>
          <p:cNvSpPr txBox="1"/>
          <p:nvPr/>
        </p:nvSpPr>
        <p:spPr>
          <a:xfrm>
            <a:off x="594360" y="1188720"/>
            <a:ext cx="210312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36%</a:t>
            </a:r>
            <a:endParaRPr lang="en-US" sz="3200" dirty="0"/>
          </a:p>
        </p:txBody>
      </p:sp>
      <p:sp>
        <p:nvSpPr>
          <p:cNvPr id="5" name="CRBSI rate label"/>
          <p:cNvSpPr txBox="1"/>
          <p:nvPr/>
        </p:nvSpPr>
        <p:spPr>
          <a:xfrm>
            <a:off x="594360" y="1786738"/>
            <a:ext cx="21031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CRBSI rate (13 of 36 TCC patients)</a:t>
            </a:r>
            <a:endParaRPr lang="en-US" sz="1100" dirty="0"/>
          </a:p>
        </p:txBody>
      </p:sp>
      <p:sp>
        <p:nvSpPr>
          <p:cNvPr id="6" name="Catheter change card"/>
          <p:cNvSpPr/>
          <p:nvPr/>
        </p:nvSpPr>
        <p:spPr>
          <a:xfrm>
            <a:off x="457200" y="2468880"/>
            <a:ext cx="23774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atheter change value"/>
          <p:cNvSpPr txBox="1"/>
          <p:nvPr/>
        </p:nvSpPr>
        <p:spPr>
          <a:xfrm>
            <a:off x="594360" y="2560320"/>
            <a:ext cx="210312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200" dirty="0"/>
          </a:p>
        </p:txBody>
      </p:sp>
      <p:sp>
        <p:nvSpPr>
          <p:cNvPr id="8" name="Catheter change label"/>
          <p:cNvSpPr txBox="1"/>
          <p:nvPr/>
        </p:nvSpPr>
        <p:spPr>
          <a:xfrm>
            <a:off x="594360" y="3158338"/>
            <a:ext cx="21031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catheters needed changing (31%)</a:t>
            </a:r>
            <a:endParaRPr lang="en-US" sz="1100" dirty="0"/>
          </a:p>
        </p:txBody>
      </p:sp>
      <p:graphicFrame>
        <p:nvGraphicFramePr>
          <p:cNvPr id="9" name="Catheter change reasons chart" descr=""/>
          <p:cNvGraphicFramePr/>
          <p:nvPr/>
        </p:nvGraphicFramePr>
        <p:xfrm>
          <a:off x="3108960" y="1005840"/>
          <a:ext cx="29260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217920" y="1188720"/>
            <a:ext cx="246888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8 of 13 CRBSI episodes led to a catheter change; 5 were treated with the catheter left in.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One CRBSI was fungal (catheter changed).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Infection drives 64% of changes; poor flow the rest.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4 CRBSI patients already had an AVF, so the catheter could have been removed sooner.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Fistulas are mature and well established</a:t>
            </a:r>
            <a:endParaRPr lang="en-US" sz="2800" dirty="0"/>
          </a:p>
        </p:txBody>
      </p:sp>
      <p:graphicFrame>
        <p:nvGraphicFramePr>
          <p:cNvPr id="3" name="AVF status chart" descr=""/>
          <p:cNvGraphicFramePr/>
          <p:nvPr/>
        </p:nvGraphicFramePr>
        <p:xfrm>
          <a:off x="365760" y="1005840"/>
          <a:ext cx="40233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AVF duration chart" descr=""/>
          <p:cNvGraphicFramePr/>
          <p:nvPr/>
        </p:nvGraphicFramePr>
        <p:xfrm>
          <a:off x="4663440" y="1005840"/>
          <a:ext cx="41148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Proximal fistulas outnumber distal ones</a:t>
            </a:r>
            <a:endParaRPr lang="en-US" sz="2800" dirty="0"/>
          </a:p>
        </p:txBody>
      </p:sp>
      <p:graphicFrame>
        <p:nvGraphicFramePr>
          <p:cNvPr id="3" name="AVF site pie" descr=""/>
          <p:cNvGraphicFramePr/>
          <p:nvPr/>
        </p:nvGraphicFramePr>
        <p:xfrm>
          <a:off x="365760" y="1005840"/>
          <a:ext cx="42062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Proximal share card"/>
          <p:cNvSpPr/>
          <p:nvPr/>
        </p:nvSpPr>
        <p:spPr>
          <a:xfrm>
            <a:off x="4937760" y="1188720"/>
            <a:ext cx="178308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oximal share value"/>
          <p:cNvSpPr txBox="1"/>
          <p:nvPr/>
        </p:nvSpPr>
        <p:spPr>
          <a:xfrm>
            <a:off x="5074920" y="1280160"/>
            <a:ext cx="150876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63%</a:t>
            </a:r>
            <a:endParaRPr lang="en-US" sz="3200" dirty="0"/>
          </a:p>
        </p:txBody>
      </p:sp>
      <p:sp>
        <p:nvSpPr>
          <p:cNvPr id="6" name="Proximal share label"/>
          <p:cNvSpPr txBox="1"/>
          <p:nvPr/>
        </p:nvSpPr>
        <p:spPr>
          <a:xfrm>
            <a:off x="5074920" y="1878178"/>
            <a:ext cx="150876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proximal, of sites recorded</a:t>
            </a:r>
            <a:endParaRPr lang="en-US" sz="1100" dirty="0"/>
          </a:p>
        </p:txBody>
      </p:sp>
      <p:sp>
        <p:nvSpPr>
          <p:cNvPr id="7" name="Distal share card"/>
          <p:cNvSpPr/>
          <p:nvPr/>
        </p:nvSpPr>
        <p:spPr>
          <a:xfrm>
            <a:off x="6903720" y="1188720"/>
            <a:ext cx="178308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Distal share value"/>
          <p:cNvSpPr txBox="1"/>
          <p:nvPr/>
        </p:nvSpPr>
        <p:spPr>
          <a:xfrm>
            <a:off x="7040880" y="1280160"/>
            <a:ext cx="150876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38%</a:t>
            </a:r>
            <a:endParaRPr lang="en-US" sz="3200" dirty="0"/>
          </a:p>
        </p:txBody>
      </p:sp>
      <p:sp>
        <p:nvSpPr>
          <p:cNvPr id="9" name="Distal share label"/>
          <p:cNvSpPr txBox="1"/>
          <p:nvPr/>
        </p:nvSpPr>
        <p:spPr>
          <a:xfrm>
            <a:off x="7040880" y="1878178"/>
            <a:ext cx="150876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distal, of sites recorded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937760" y="2606040"/>
            <a:ext cx="374904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45 proximal (upper arm), 27 distal (forearm/wrist), 1 with both.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Guidelines favour distal first to preserve upper-arm veins. The high proximal share may reflect failed distal fistulas or poor forearm vessels.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8 AVF entries have no site written.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patients needed an access procedure</a:t>
            </a:r>
            <a:endParaRPr lang="en-US" sz="2800" dirty="0"/>
          </a:p>
        </p:txBody>
      </p:sp>
      <p:graphicFrame>
        <p:nvGraphicFramePr>
          <p:cNvPr id="9" name="Procedur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54864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463040"/>
                <a:gridCol w="1920240"/>
                <a:gridCol w="13716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Sr. No.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 / note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TCC + AVF (failed)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fistula failures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Changed AVF→TCC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TCC + AVF distal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CRBSI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TCC→AVF, then AVF→TCC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AVF proximal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CRBSI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Changed TCC→AVF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AVF proximal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 (distal) fistula failed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Changed TCC→AVF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TCC + AVF proximal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CRBSI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Changed TCC→AVF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AVF proximal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(note illegible)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Changed TCC→AVF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AVF proximal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(note illegible)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Changed TCC→AVF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AVF proximal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(note illegible)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Changed TCC→AVF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AVF proximal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CRBSI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Changed TCC→AVF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Procedure count card"/>
          <p:cNvSpPr/>
          <p:nvPr/>
        </p:nvSpPr>
        <p:spPr>
          <a:xfrm>
            <a:off x="6309360" y="1097280"/>
            <a:ext cx="23774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ocedure count value"/>
          <p:cNvSpPr txBox="1"/>
          <p:nvPr/>
        </p:nvSpPr>
        <p:spPr>
          <a:xfrm>
            <a:off x="6446520" y="1188720"/>
            <a:ext cx="210312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200" dirty="0"/>
          </a:p>
        </p:txBody>
      </p:sp>
      <p:sp>
        <p:nvSpPr>
          <p:cNvPr id="6" name="Procedure count label"/>
          <p:cNvSpPr txBox="1"/>
          <p:nvPr/>
        </p:nvSpPr>
        <p:spPr>
          <a:xfrm>
            <a:off x="6446520" y="1786738"/>
            <a:ext cx="21031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patients flagged for a procedure (9%)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2514600"/>
            <a:ext cx="237744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CRBSI is the commonest note in this column.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Fistula failure accounts for two more.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Three notes could not be read and need checking against the register.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patients moved from catheter to fistula</a:t>
            </a:r>
            <a:endParaRPr lang="en-US" sz="2800" dirty="0"/>
          </a:p>
        </p:txBody>
      </p:sp>
      <p:graphicFrame>
        <p:nvGraphicFramePr>
          <p:cNvPr id="3" name="Transitions chart" descr=""/>
          <p:cNvGraphicFramePr/>
          <p:nvPr/>
        </p:nvGraphicFramePr>
        <p:xfrm>
          <a:off x="365760" y="1005840"/>
          <a:ext cx="42062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CC box"/>
          <p:cNvSpPr/>
          <p:nvPr/>
        </p:nvSpPr>
        <p:spPr>
          <a:xfrm>
            <a:off x="5120640" y="128016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5" name="TCC box label"/>
          <p:cNvSpPr txBox="1"/>
          <p:nvPr/>
        </p:nvSpPr>
        <p:spPr>
          <a:xfrm>
            <a:off x="5120640" y="12801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TCC</a:t>
            </a:r>
            <a:endParaRPr lang="en-US" sz="1800" dirty="0"/>
          </a:p>
        </p:txBody>
      </p:sp>
      <p:sp>
        <p:nvSpPr>
          <p:cNvPr id="6" name="AVF box"/>
          <p:cNvSpPr/>
          <p:nvPr/>
        </p:nvSpPr>
        <p:spPr>
          <a:xfrm>
            <a:off x="7498080" y="128016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0E6E73"/>
          </a:solidFill>
          <a:ln w="12700">
            <a:solidFill>
              <a:srgbClr val="0E6E73"/>
            </a:solidFill>
            <a:prstDash val="solid"/>
          </a:ln>
        </p:spPr>
      </p:sp>
      <p:sp>
        <p:nvSpPr>
          <p:cNvPr id="7" name="AVF box label"/>
          <p:cNvSpPr txBox="1"/>
          <p:nvPr/>
        </p:nvSpPr>
        <p:spPr>
          <a:xfrm>
            <a:off x="7498080" y="12801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AVF</a:t>
            </a:r>
            <a:endParaRPr lang="en-US" sz="1800" dirty="0"/>
          </a:p>
        </p:txBody>
      </p:sp>
      <p:sp>
        <p:nvSpPr>
          <p:cNvPr id="8" name="TCC to AVF arrow"/>
          <p:cNvSpPr/>
          <p:nvPr/>
        </p:nvSpPr>
        <p:spPr>
          <a:xfrm>
            <a:off x="6355080" y="1481328"/>
            <a:ext cx="1097280" cy="0"/>
          </a:xfrm>
          <a:prstGeom prst="line">
            <a:avLst/>
          </a:prstGeom>
          <a:noFill/>
          <a:ln w="31750">
            <a:solidFill>
              <a:srgbClr val="0E6E73"/>
            </a:solidFill>
            <a:prstDash val="solid"/>
            <a:tailEnd type="triangle"/>
          </a:ln>
        </p:spPr>
      </p:sp>
      <p:sp>
        <p:nvSpPr>
          <p:cNvPr id="9" name="AVF to TCC arrow"/>
          <p:cNvSpPr/>
          <p:nvPr/>
        </p:nvSpPr>
        <p:spPr>
          <a:xfrm>
            <a:off x="6355080" y="1737360"/>
            <a:ext cx="1097280" cy="0"/>
          </a:xfrm>
          <a:prstGeom prst="line">
            <a:avLst/>
          </a:prstGeom>
          <a:noFill/>
          <a:ln w="15875">
            <a:solidFill>
              <a:srgbClr val="D9534F"/>
            </a:solidFill>
            <a:prstDash val="solid"/>
            <a:headEnd type="triangle"/>
          </a:ln>
        </p:spPr>
      </p:sp>
      <p:sp>
        <p:nvSpPr>
          <p:cNvPr id="10" name="Text 7"/>
          <p:cNvSpPr txBox="1"/>
          <p:nvPr/>
        </p:nvSpPr>
        <p:spPr>
          <a:xfrm>
            <a:off x="6355080" y="1051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24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355080" y="1783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029200" y="2377440"/>
            <a:ext cx="365760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24 conversions to AVF against 3 back to catheter (8 : 1).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Two of the three moves back to TCC followed fistula failure; one patient lost two fistulas.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23 patients are still TCC-only and should be referred for AVF creation.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act on</a:t>
            </a:r>
            <a:endParaRPr lang="en-US" sz="2800" dirty="0"/>
          </a:p>
        </p:txBody>
      </p:sp>
      <p:sp>
        <p:nvSpPr>
          <p:cNvPr id="3" name="Fistula referral card"/>
          <p:cNvSpPr/>
          <p:nvPr/>
        </p:nvSpPr>
        <p:spPr>
          <a:xfrm>
            <a:off x="457200" y="109728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Fistula referral marker"/>
          <p:cNvSpPr/>
          <p:nvPr/>
        </p:nvSpPr>
        <p:spPr>
          <a:xfrm>
            <a:off x="640080" y="1298448"/>
            <a:ext cx="411480" cy="411480"/>
          </a:xfrm>
          <a:prstGeom prst="ellipse">
            <a:avLst/>
          </a:prstGeom>
          <a:solidFill>
            <a:srgbClr val="0E6E73"/>
          </a:solidFill>
          <a:ln w="12700">
            <a:solidFill>
              <a:srgbClr val="0E6E7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98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80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Fistula referral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7830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Plan AVF creation for the 23 TCC-only patients, starting with the 6-month catheters.</a:t>
            </a:r>
            <a:endParaRPr lang="en-US" sz="1300" dirty="0"/>
          </a:p>
        </p:txBody>
      </p:sp>
      <p:sp>
        <p:nvSpPr>
          <p:cNvPr id="8" name="CRBSI prevention card"/>
          <p:cNvSpPr/>
          <p:nvPr/>
        </p:nvSpPr>
        <p:spPr>
          <a:xfrm>
            <a:off x="4663440" y="109728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RBSI prevention marker"/>
          <p:cNvSpPr/>
          <p:nvPr/>
        </p:nvSpPr>
        <p:spPr>
          <a:xfrm>
            <a:off x="4846320" y="1298448"/>
            <a:ext cx="411480" cy="411480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298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1280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CRBSI prevention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17830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Audit catheter care: the CRBSI rate is 36% of TCC patients.</a:t>
            </a:r>
            <a:endParaRPr lang="en-US" sz="1300" dirty="0"/>
          </a:p>
        </p:txBody>
      </p:sp>
      <p:sp>
        <p:nvSpPr>
          <p:cNvPr id="13" name="Remove catheters early card"/>
          <p:cNvSpPr/>
          <p:nvPr/>
        </p:nvSpPr>
        <p:spPr>
          <a:xfrm>
            <a:off x="457200" y="288036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Remove catheters early marker"/>
          <p:cNvSpPr/>
          <p:nvPr/>
        </p:nvSpPr>
        <p:spPr>
          <a:xfrm>
            <a:off x="640080" y="3081528"/>
            <a:ext cx="411480" cy="411480"/>
          </a:xfrm>
          <a:prstGeom prst="ellipse">
            <a:avLst/>
          </a:prstGeom>
          <a:solidFill>
            <a:srgbClr val="0E6E73"/>
          </a:solidFill>
          <a:ln w="12700">
            <a:solidFill>
              <a:srgbClr val="0E6E7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081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063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catheters early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5661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Take out TCCs in the 13 patients who already have a working or maturing AVF once it is usable.</a:t>
            </a:r>
            <a:endParaRPr lang="en-US" sz="1300" dirty="0"/>
          </a:p>
        </p:txBody>
      </p:sp>
      <p:sp>
        <p:nvSpPr>
          <p:cNvPr id="18" name="Fistula surveillance card"/>
          <p:cNvSpPr/>
          <p:nvPr/>
        </p:nvSpPr>
        <p:spPr>
          <a:xfrm>
            <a:off x="4663440" y="288036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Fistula surveillance marker"/>
          <p:cNvSpPr/>
          <p:nvPr/>
        </p:nvSpPr>
        <p:spPr>
          <a:xfrm>
            <a:off x="4846320" y="3081528"/>
            <a:ext cx="411480" cy="411480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3081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394960" y="3063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Fistula surveillance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35661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Monitor flow and do early fistulograms to catch failures before patients go back to a catheter.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data was read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Source: 4 photographed pages of a handwritten register, Sr. No. 1–125. Patient names are left out of this deck.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Columns: TCC, TCC duration (last 6 months), CRBSI, need for catheter change, AVF, AVF duration (last 6 months), proximal/distal, need for procedure, change TCC→AVF, change AVF→TCC.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Several right-hand page entries sit slightly offset from their row. They were matched to patients by row position and cross-checked against the TCC ticks, so a few may be off by one row.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tick with no number in the duration column is counted as "not written". 21 rows with no entries are reported as "no access data".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Struck-out entries: Sr. 21's TCC is counted as a past catheter (now on AVF); Sr. 113's AVF duration and TCC→AVF tick are not counted.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appendix lists every row so each value can be checked against the register.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Appendix: patient-level data (Sr. 1–21)</a:t>
            </a:r>
            <a:endParaRPr lang="en-US" sz="2800" dirty="0"/>
          </a:p>
        </p:txBody>
      </p:sp>
      <p:graphicFrame>
        <p:nvGraphicFramePr>
          <p:cNvPr id="13" name="Patient data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411480"/>
                <a:gridCol w="594360"/>
                <a:gridCol w="502920"/>
                <a:gridCol w="1600200"/>
                <a:gridCol w="777240"/>
                <a:gridCol w="594360"/>
                <a:gridCol w="411480"/>
                <a:gridCol w="1417320"/>
                <a:gridCol w="640080"/>
                <a:gridCol w="914400"/>
              </a:tblGrid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TCC dur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CRBSI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Cath change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AVF dur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Procedure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TCC→AVF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AVF→TCC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CRBSI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flow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matured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fistula failures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Appendix: patient-level data (Sr. 22–42)</a:t>
            </a:r>
            <a:endParaRPr lang="en-US" sz="2800" dirty="0"/>
          </a:p>
        </p:txBody>
      </p:sp>
      <p:graphicFrame>
        <p:nvGraphicFramePr>
          <p:cNvPr id="14" name="Patient data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411480"/>
                <a:gridCol w="594360"/>
                <a:gridCol w="502920"/>
                <a:gridCol w="1600200"/>
                <a:gridCol w="777240"/>
                <a:gridCol w="594360"/>
                <a:gridCol w="411480"/>
                <a:gridCol w="1417320"/>
                <a:gridCol w="640080"/>
                <a:gridCol w="914400"/>
              </a:tblGrid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TCC dur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CRBSI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Cath change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AVF dur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Procedure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TCC→AVF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AVF→TCC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Bleeding / infection (13/06/26)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flow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CRBSI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CRBSI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CRBSI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Appendix: patient-level data (Sr. 43–63)</a:t>
            </a:r>
            <a:endParaRPr lang="en-US" sz="2800" dirty="0"/>
          </a:p>
        </p:txBody>
      </p:sp>
      <p:graphicFrame>
        <p:nvGraphicFramePr>
          <p:cNvPr id="15" name="Patient data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411480"/>
                <a:gridCol w="594360"/>
                <a:gridCol w="502920"/>
                <a:gridCol w="1600200"/>
                <a:gridCol w="777240"/>
                <a:gridCol w="594360"/>
                <a:gridCol w="411480"/>
                <a:gridCol w="1417320"/>
                <a:gridCol w="640080"/>
                <a:gridCol w="914400"/>
              </a:tblGrid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TCC dur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CRBSI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Cath change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AVF dur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Procedure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TCC→AVF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AVF→TCC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flow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CRBSI (fungal infection)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CRBSI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 (distal) fistula failed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Appendix: patient-level data (Sr. 64–84)</a:t>
            </a:r>
            <a:endParaRPr lang="en-US" sz="2800" dirty="0"/>
          </a:p>
        </p:txBody>
      </p:sp>
      <p:graphicFrame>
        <p:nvGraphicFramePr>
          <p:cNvPr id="16" name="Patient data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411480"/>
                <a:gridCol w="594360"/>
                <a:gridCol w="502920"/>
                <a:gridCol w="1600200"/>
                <a:gridCol w="777240"/>
                <a:gridCol w="594360"/>
                <a:gridCol w="411480"/>
                <a:gridCol w="1417320"/>
                <a:gridCol w="640080"/>
                <a:gridCol w="914400"/>
              </a:tblGrid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TCC dur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CRBSI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Cath change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AVF dur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Procedure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TCC→AVF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AVF→TCC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CRBSI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(note illegible)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Appendix: patient-level data (Sr. 85–105)</a:t>
            </a:r>
            <a:endParaRPr lang="en-US" sz="2800" dirty="0"/>
          </a:p>
        </p:txBody>
      </p:sp>
      <p:graphicFrame>
        <p:nvGraphicFramePr>
          <p:cNvPr id="17" name="Patient data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411480"/>
                <a:gridCol w="594360"/>
                <a:gridCol w="502920"/>
                <a:gridCol w="1600200"/>
                <a:gridCol w="777240"/>
                <a:gridCol w="594360"/>
                <a:gridCol w="411480"/>
                <a:gridCol w="1417320"/>
                <a:gridCol w="640080"/>
                <a:gridCol w="914400"/>
              </a:tblGrid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TCC dur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CRBSI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Cath change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AVF dur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Procedure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TCC→AVF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AVF→TCC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(note illegible)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(note illegible)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matured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Appendix: patient-level data (Sr. 106–125)</a:t>
            </a:r>
            <a:endParaRPr lang="en-US" sz="2800" dirty="0"/>
          </a:p>
        </p:txBody>
      </p:sp>
      <p:graphicFrame>
        <p:nvGraphicFramePr>
          <p:cNvPr id="18" name="Patient data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411480"/>
                <a:gridCol w="594360"/>
                <a:gridCol w="502920"/>
                <a:gridCol w="1600200"/>
                <a:gridCol w="777240"/>
                <a:gridCol w="594360"/>
                <a:gridCol w="411480"/>
                <a:gridCol w="1417320"/>
                <a:gridCol w="640080"/>
                <a:gridCol w="914400"/>
              </a:tblGrid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TCC dur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CRBSI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Cath change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AVF dur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Procedure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TCC→AVF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AVF→TCC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3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CRBSI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flow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nal Access">
  <a:themeElements>
    <a:clrScheme name="Renal Access">
      <a:dk1>
        <a:srgbClr val="17313B"/>
      </a:dk1>
      <a:lt1>
        <a:srgbClr val="FFFFFF"/>
      </a:lt1>
      <a:dk2>
        <a:srgbClr val="0E6E73"/>
      </a:dk2>
      <a:lt2>
        <a:srgbClr val="F3F7F8"/>
      </a:lt2>
      <a:accent1>
        <a:srgbClr val="0E6E73"/>
      </a:accent1>
      <a:accent2>
        <a:srgbClr val="D9534F"/>
      </a:accent2>
      <a:accent3>
        <a:srgbClr val="E59F3C"/>
      </a:accent3>
      <a:accent4>
        <a:srgbClr val="7FB8B5"/>
      </a:accent4>
      <a:accent5>
        <a:srgbClr val="5E6B73"/>
      </a:accent5>
      <a:accent6>
        <a:srgbClr val="A7C4CC"/>
      </a:accent6>
      <a:hlink>
        <a:srgbClr val="0E6E73"/>
      </a:hlink>
      <a:folHlink>
        <a:srgbClr val="5E6B73"/>
      </a:folHlink>
    </a:clrScheme>
    <a:fontScheme name="Renal Acces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Vascular access in CKD haemodialysis patients</dc:title>
  <dc:subject>PptxGenJS Presentation</dc:subject>
  <dc:creator>PptxGenJS</dc:creator>
  <cp:lastModifiedBy>PptxGenJS</cp:lastModifiedBy>
  <cp:revision>1</cp:revision>
  <dcterms:created xsi:type="dcterms:W3CDTF">2026-10-28T04:13:55Z</dcterms:created>
  <dcterms:modified xsi:type="dcterms:W3CDTF">2026-10-28T04:13:55Z</dcterms:modified>
</cp:coreProperties>
</file>